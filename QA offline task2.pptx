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2" r:id="rId5"/>
    <p:sldId id="260" r:id="rId6"/>
    <p:sldId id="269" r:id="rId7"/>
    <p:sldId id="263" r:id="rId8"/>
    <p:sldId id="264" r:id="rId9"/>
    <p:sldId id="265" r:id="rId10"/>
    <p:sldId id="266" r:id="rId11"/>
    <p:sldId id="270"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3899F0-417A-4288-BDEC-CF546BCBC6B0}" v="122" dt="2025-11-02T19:45:40.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01" autoAdjust="0"/>
  </p:normalViewPr>
  <p:slideViewPr>
    <p:cSldViewPr snapToGrid="0">
      <p:cViewPr varScale="1">
        <p:scale>
          <a:sx n="73" d="100"/>
          <a:sy n="73" d="100"/>
        </p:scale>
        <p:origin x="3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11/3/2025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11/3/2025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11/3/2025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api.myreactapp.com/login" TargetMode="External"/><Relationship Id="rId2" Type="http://schemas.openxmlformats.org/officeDocument/2006/relationships/hyperlink" Target="https://api.myreactapp.com/product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jmeter.apache.org/download_jmeter.cgi"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A410-86D3-FF21-4ADA-A0AB61AB9E2C}"/>
              </a:ext>
            </a:extLst>
          </p:cNvPr>
          <p:cNvSpPr>
            <a:spLocks noGrp="1"/>
          </p:cNvSpPr>
          <p:nvPr>
            <p:ph type="ctrTitle"/>
          </p:nvPr>
        </p:nvSpPr>
        <p:spPr/>
        <p:txBody>
          <a:bodyPr>
            <a:normAutofit/>
          </a:bodyPr>
          <a:lstStyle/>
          <a:p>
            <a:r>
              <a:rPr lang="en-US" sz="6600" dirty="0">
                <a:latin typeface="Times New Roman" panose="02020603050405020304" pitchFamily="18" charset="0"/>
                <a:cs typeface="Times New Roman" panose="02020603050405020304" pitchFamily="18" charset="0"/>
              </a:rPr>
              <a:t>QUALITY ANALYST</a:t>
            </a:r>
          </a:p>
        </p:txBody>
      </p:sp>
      <p:sp>
        <p:nvSpPr>
          <p:cNvPr id="3" name="Subtitle 2">
            <a:extLst>
              <a:ext uri="{FF2B5EF4-FFF2-40B4-BE49-F238E27FC236}">
                <a16:creationId xmlns:a16="http://schemas.microsoft.com/office/drawing/2014/main" id="{35BF8BF3-4D35-2352-53E6-62275ACCEFC2}"/>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OFFLINE EXERCISE</a:t>
            </a:r>
          </a:p>
          <a:p>
            <a:r>
              <a:rPr lang="en-US" dirty="0" err="1">
                <a:latin typeface="Times New Roman" panose="02020603050405020304" pitchFamily="18" charset="0"/>
                <a:cs typeface="Times New Roman" panose="02020603050405020304" pitchFamily="18" charset="0"/>
              </a:rPr>
              <a:t>PRESENTEr:DRISHA</a:t>
            </a:r>
            <a:r>
              <a:rPr lang="en-US" dirty="0">
                <a:latin typeface="Times New Roman" panose="02020603050405020304" pitchFamily="18" charset="0"/>
                <a:cs typeface="Times New Roman" panose="02020603050405020304" pitchFamily="18" charset="0"/>
              </a:rPr>
              <a:t> J</a:t>
            </a:r>
          </a:p>
        </p:txBody>
      </p:sp>
    </p:spTree>
    <p:extLst>
      <p:ext uri="{BB962C8B-B14F-4D97-AF65-F5344CB8AC3E}">
        <p14:creationId xmlns:p14="http://schemas.microsoft.com/office/powerpoint/2010/main" val="409231433"/>
      </p:ext>
    </p:extLst>
  </p:cSld>
  <p:clrMapOvr>
    <a:masterClrMapping/>
  </p:clrMapOvr>
  <mc:AlternateContent xmlns:mc="http://schemas.openxmlformats.org/markup-compatibility/2006" xmlns:p14="http://schemas.microsoft.com/office/powerpoint/2010/main">
    <mc:Choice Requires="p14">
      <p:transition spd="slow" p14:dur="2000" advTm="11174"/>
    </mc:Choice>
    <mc:Fallback xmlns="">
      <p:transition spd="slow" advTm="1117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E7B02-5A7A-2D90-FC2F-0B21C62062D3}"/>
              </a:ext>
            </a:extLst>
          </p:cNvPr>
          <p:cNvSpPr>
            <a:spLocks noGrp="1"/>
          </p:cNvSpPr>
          <p:nvPr>
            <p:ph type="title"/>
          </p:nvPr>
        </p:nvSpPr>
        <p:spPr/>
        <p:txBody>
          <a:bodyPr>
            <a:normAutofit/>
          </a:bodyPr>
          <a:lstStyle/>
          <a:p>
            <a:r>
              <a:rPr lang="en-US" sz="3600" b="1" dirty="0">
                <a:solidFill>
                  <a:schemeClr val="accent1">
                    <a:lumMod val="75000"/>
                  </a:schemeClr>
                </a:solidFill>
                <a:latin typeface="Times New Roman" panose="02020603050405020304" pitchFamily="18" charset="0"/>
                <a:cs typeface="Times New Roman" panose="02020603050405020304" pitchFamily="18" charset="0"/>
              </a:rPr>
              <a:t>Topic 1: Automated E2E Testing for React App using Playwright</a:t>
            </a:r>
            <a:endParaRPr lang="en-US" sz="36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E53D24-9293-67F8-7D60-DCADA43972CD}"/>
              </a:ext>
            </a:extLst>
          </p:cNvPr>
          <p:cNvSpPr>
            <a:spLocks noGrp="1"/>
          </p:cNvSpPr>
          <p:nvPr>
            <p:ph idx="1"/>
          </p:nvPr>
        </p:nvSpPr>
        <p:spPr>
          <a:xfrm>
            <a:off x="1097280" y="1845734"/>
            <a:ext cx="10058400" cy="4159140"/>
          </a:xfrm>
        </p:spPr>
        <p:txBody>
          <a:bodyPr>
            <a:normAutofit fontScale="77500" lnSpcReduction="20000"/>
          </a:bodyPr>
          <a:lstStyle/>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b="1" dirty="0">
                <a:solidFill>
                  <a:schemeClr val="accent1">
                    <a:lumMod val="75000"/>
                  </a:schemeClr>
                </a:solidFill>
                <a:latin typeface="Times New Roman" panose="02020603050405020304" pitchFamily="18" charset="0"/>
                <a:cs typeface="Times New Roman" panose="02020603050405020304" pitchFamily="18" charset="0"/>
              </a:rPr>
              <a:t>What is Playwright?</a:t>
            </a:r>
          </a:p>
          <a:p>
            <a:pPr marL="0" indent="0">
              <a:buNone/>
            </a:pPr>
            <a:r>
              <a:rPr lang="en-US" dirty="0">
                <a:latin typeface="Times New Roman" panose="02020603050405020304" pitchFamily="18" charset="0"/>
                <a:cs typeface="Times New Roman" panose="02020603050405020304" pitchFamily="18" charset="0"/>
              </a:rPr>
              <a:t>Playwright is an open-source E2E testing framework developed by Microsoft. It automates real browsers like Chromium, Firefox, and WebKit to test your web app just like a real user . </a:t>
            </a:r>
          </a:p>
          <a:p>
            <a:r>
              <a:rPr lang="en-US" dirty="0">
                <a:latin typeface="Times New Roman" panose="02020603050405020304" pitchFamily="18" charset="0"/>
                <a:cs typeface="Times New Roman" panose="02020603050405020304" pitchFamily="18" charset="0"/>
              </a:rPr>
              <a:t>It is ideal for React apps because it: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Tests the entire user flow (from login to checkout, etc.).</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Works on all browsers and device.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Integrates easily with CI/CD pipelines.</a:t>
            </a:r>
          </a:p>
          <a:p>
            <a:r>
              <a:rPr lang="en-US" b="1" dirty="0">
                <a:solidFill>
                  <a:schemeClr val="accent2"/>
                </a:solidFill>
                <a:latin typeface="Times New Roman" panose="02020603050405020304" pitchFamily="18" charset="0"/>
                <a:cs typeface="Times New Roman" panose="02020603050405020304" pitchFamily="18" charset="0"/>
              </a:rPr>
              <a:t>What is E2E Testing</a:t>
            </a:r>
            <a:r>
              <a:rPr lang="en-US" b="1" dirty="0">
                <a:solidFill>
                  <a:schemeClr val="accent1">
                    <a:lumMod val="75000"/>
                  </a:schemeClr>
                </a:solidFill>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End-to-End (E2E) testing verifies that your entire application (frontend, backend, UI interactions) works correctly from start to finish.</a:t>
            </a:r>
          </a:p>
          <a:p>
            <a:r>
              <a:rPr lang="en-US" b="1" dirty="0">
                <a:latin typeface="Times New Roman" panose="02020603050405020304" pitchFamily="18" charset="0"/>
                <a:cs typeface="Times New Roman" panose="02020603050405020304" pitchFamily="18" charset="0"/>
              </a:rPr>
              <a:t>Example: </a:t>
            </a:r>
            <a:r>
              <a:rPr lang="en-US" dirty="0">
                <a:highlight>
                  <a:srgbClr val="C0C0C0"/>
                </a:highlight>
                <a:latin typeface="Times New Roman" panose="02020603050405020304" pitchFamily="18" charset="0"/>
                <a:cs typeface="Times New Roman" panose="02020603050405020304" pitchFamily="18" charset="0"/>
              </a:rPr>
              <a:t>Open the app -&gt; Login -&gt; Add item to cart -&gt; Checkout -&gt; Confirm success message.</a:t>
            </a:r>
          </a:p>
          <a:p>
            <a:r>
              <a:rPr lang="en-US" dirty="0">
                <a:latin typeface="Times New Roman" panose="02020603050405020304" pitchFamily="18" charset="0"/>
                <a:cs typeface="Times New Roman" panose="02020603050405020304" pitchFamily="18" charset="0"/>
              </a:rPr>
              <a:t>Playwright automates these steps, ensuring your app behaves correctly for real users.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5030018"/>
      </p:ext>
    </p:extLst>
  </p:cSld>
  <p:clrMapOvr>
    <a:masterClrMapping/>
  </p:clrMapOvr>
  <mc:AlternateContent xmlns:mc="http://schemas.openxmlformats.org/markup-compatibility/2006" xmlns:p14="http://schemas.microsoft.com/office/powerpoint/2010/main">
    <mc:Choice Requires="p14">
      <p:transition spd="slow" p14:dur="2000" advTm="188386"/>
    </mc:Choice>
    <mc:Fallback xmlns="">
      <p:transition spd="slow" advTm="18838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6F68C-7C57-2799-D5B5-9A3E23EB4569}"/>
              </a:ext>
            </a:extLst>
          </p:cNvPr>
          <p:cNvSpPr>
            <a:spLocks noGrp="1"/>
          </p:cNvSpPr>
          <p:nvPr>
            <p:ph type="title"/>
          </p:nvPr>
        </p:nvSpPr>
        <p:spPr>
          <a:xfrm>
            <a:off x="457200" y="418012"/>
            <a:ext cx="3200400" cy="1316520"/>
          </a:xfrm>
        </p:spPr>
        <p:txBody>
          <a:bodyPr>
            <a:normAutofit fontScale="90000"/>
          </a:bodyPr>
          <a:lstStyle/>
          <a:p>
            <a:r>
              <a:rPr lang="en-US" sz="2800" b="1" dirty="0">
                <a:latin typeface="Times New Roman" panose="02020603050405020304" pitchFamily="18" charset="0"/>
                <a:cs typeface="Times New Roman" panose="02020603050405020304" pitchFamily="18" charset="0"/>
              </a:rPr>
              <a:t>Steps to Set Up Automated E2E Testing in React using Playwright</a:t>
            </a:r>
          </a:p>
        </p:txBody>
      </p:sp>
      <p:sp>
        <p:nvSpPr>
          <p:cNvPr id="3" name="Content Placeholder 2">
            <a:extLst>
              <a:ext uri="{FF2B5EF4-FFF2-40B4-BE49-F238E27FC236}">
                <a16:creationId xmlns:a16="http://schemas.microsoft.com/office/drawing/2014/main" id="{6B8205F8-7D5A-07B5-0A3C-2B6ABFC849B6}"/>
              </a:ext>
            </a:extLst>
          </p:cNvPr>
          <p:cNvSpPr>
            <a:spLocks noGrp="1"/>
          </p:cNvSpPr>
          <p:nvPr>
            <p:ph idx="1"/>
          </p:nvPr>
        </p:nvSpPr>
        <p:spPr>
          <a:xfrm>
            <a:off x="5590903" y="1079862"/>
            <a:ext cx="6295211" cy="5094515"/>
          </a:xfrm>
        </p:spPr>
        <p:txBody>
          <a:bodyPr>
            <a:noAutofit/>
          </a:bodyPr>
          <a:lstStyle/>
          <a:p>
            <a:endParaRPr lang="en-US" sz="1000" b="1" u="sng" dirty="0">
              <a:latin typeface="Times New Roman" panose="02020603050405020304" pitchFamily="18" charset="0"/>
              <a:cs typeface="Times New Roman" panose="02020603050405020304" pitchFamily="18" charset="0"/>
            </a:endParaRPr>
          </a:p>
          <a:p>
            <a:endParaRPr lang="en-US" sz="1000" b="1" u="sng" dirty="0">
              <a:latin typeface="Times New Roman" panose="02020603050405020304" pitchFamily="18" charset="0"/>
              <a:cs typeface="Times New Roman" panose="02020603050405020304" pitchFamily="18" charset="0"/>
            </a:endParaRPr>
          </a:p>
          <a:p>
            <a:pPr marL="0" indent="0">
              <a:buNone/>
            </a:pPr>
            <a:r>
              <a:rPr lang="en-US" sz="1600" b="1" u="sng" dirty="0">
                <a:latin typeface="Times New Roman" panose="02020603050405020304" pitchFamily="18" charset="0"/>
                <a:cs typeface="Times New Roman" panose="02020603050405020304" pitchFamily="18" charset="0"/>
              </a:rPr>
              <a:t>Step 2:</a:t>
            </a:r>
            <a:r>
              <a:rPr lang="en-US" sz="1600" b="1" dirty="0">
                <a:latin typeface="Times New Roman" panose="02020603050405020304" pitchFamily="18" charset="0"/>
                <a:cs typeface="Times New Roman" panose="02020603050405020304" pitchFamily="18" charset="0"/>
              </a:rPr>
              <a:t> Project Structure</a:t>
            </a:r>
          </a:p>
          <a:p>
            <a:r>
              <a:rPr lang="en-US" sz="1600" dirty="0">
                <a:latin typeface="Times New Roman" panose="02020603050405020304" pitchFamily="18" charset="0"/>
                <a:cs typeface="Times New Roman" panose="02020603050405020304" pitchFamily="18" charset="0"/>
              </a:rPr>
              <a:t>After setup, your project will look like:</a:t>
            </a:r>
          </a:p>
          <a:p>
            <a:r>
              <a:rPr lang="en-US" sz="1600" dirty="0">
                <a:solidFill>
                  <a:srgbClr val="00B050"/>
                </a:solidFill>
                <a:latin typeface="Times New Roman" panose="02020603050405020304" pitchFamily="18" charset="0"/>
                <a:cs typeface="Times New Roman" panose="02020603050405020304" pitchFamily="18" charset="0"/>
              </a:rPr>
              <a:t>my-react-app/ </a:t>
            </a:r>
          </a:p>
          <a:p>
            <a:r>
              <a:rPr lang="en-US" sz="1600" dirty="0">
                <a:latin typeface="Times New Roman" panose="02020603050405020304" pitchFamily="18" charset="0"/>
                <a:cs typeface="Times New Roman" panose="02020603050405020304" pitchFamily="18" charset="0"/>
              </a:rPr>
              <a:t>├── </a:t>
            </a:r>
            <a:r>
              <a:rPr lang="en-US" sz="1600" dirty="0">
                <a:solidFill>
                  <a:srgbClr val="00B050"/>
                </a:solidFill>
                <a:latin typeface="Times New Roman" panose="02020603050405020304" pitchFamily="18" charset="0"/>
                <a:cs typeface="Times New Roman" panose="02020603050405020304" pitchFamily="18" charset="0"/>
              </a:rPr>
              <a:t>src/ </a:t>
            </a:r>
          </a:p>
          <a:p>
            <a:pPr marL="0" indent="0">
              <a:buNone/>
            </a:pPr>
            <a:r>
              <a:rPr lang="en-US" sz="1600" dirty="0">
                <a:solidFill>
                  <a:srgbClr val="00B050"/>
                </a:solidFill>
                <a:latin typeface="Times New Roman" panose="02020603050405020304" pitchFamily="18" charset="0"/>
                <a:cs typeface="Times New Roman" panose="02020603050405020304" pitchFamily="18" charset="0"/>
              </a:rPr>
              <a:t>  ├── tests/ </a:t>
            </a:r>
          </a:p>
          <a:p>
            <a:pPr marL="0" indent="0">
              <a:buNone/>
            </a:pPr>
            <a:r>
              <a:rPr lang="en-US" sz="1600" dirty="0">
                <a:solidFill>
                  <a:srgbClr val="00B050"/>
                </a:solidFill>
                <a:latin typeface="Times New Roman" panose="02020603050405020304" pitchFamily="18" charset="0"/>
                <a:cs typeface="Times New Roman" panose="02020603050405020304" pitchFamily="18" charset="0"/>
              </a:rPr>
              <a:t>   │   ├── example.spec.ts</a:t>
            </a:r>
          </a:p>
          <a:p>
            <a:pPr marL="0" indent="0">
              <a:buNone/>
            </a:pPr>
            <a:r>
              <a:rPr lang="en-US" sz="1600" dirty="0">
                <a:solidFill>
                  <a:srgbClr val="00B050"/>
                </a:solidFill>
                <a:latin typeface="Times New Roman" panose="02020603050405020304" pitchFamily="18" charset="0"/>
                <a:cs typeface="Times New Roman" panose="02020603050405020304" pitchFamily="18" charset="0"/>
              </a:rPr>
              <a:t>  ├── playwright.config.ts </a:t>
            </a:r>
          </a:p>
          <a:p>
            <a:pPr marL="0" indent="0">
              <a:buNone/>
            </a:pPr>
            <a:r>
              <a:rPr lang="en-US" sz="1600" dirty="0">
                <a:solidFill>
                  <a:srgbClr val="00B050"/>
                </a:solidFill>
                <a:latin typeface="Times New Roman" panose="02020603050405020304" pitchFamily="18" charset="0"/>
                <a:cs typeface="Times New Roman" panose="02020603050405020304" pitchFamily="18" charset="0"/>
              </a:rPr>
              <a:t>  ├── package.json</a:t>
            </a:r>
          </a:p>
          <a:p>
            <a:pPr marL="0" indent="0">
              <a:buNone/>
            </a:pPr>
            <a:endParaRPr lang="en-US" sz="1200" dirty="0">
              <a:solidFill>
                <a:srgbClr val="FF0000"/>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12A29A46-A240-9702-311A-F34AFE27B6C3}"/>
              </a:ext>
            </a:extLst>
          </p:cNvPr>
          <p:cNvSpPr>
            <a:spLocks noGrp="1"/>
          </p:cNvSpPr>
          <p:nvPr>
            <p:ph type="body" sz="half" idx="2"/>
          </p:nvPr>
        </p:nvSpPr>
        <p:spPr>
          <a:xfrm>
            <a:off x="457200" y="1894788"/>
            <a:ext cx="3200400" cy="4545200"/>
          </a:xfrm>
        </p:spPr>
        <p:txBody>
          <a:bodyPr>
            <a:noAutofit/>
          </a:bodyPr>
          <a:lstStyle/>
          <a:p>
            <a:r>
              <a:rPr lang="en-US" sz="1600" b="1" u="sng" dirty="0">
                <a:solidFill>
                  <a:schemeClr val="tx1">
                    <a:lumMod val="85000"/>
                    <a:lumOff val="15000"/>
                  </a:schemeClr>
                </a:solidFill>
                <a:latin typeface="Times New Roman" panose="02020603050405020304" pitchFamily="18" charset="0"/>
                <a:cs typeface="Times New Roman" panose="02020603050405020304" pitchFamily="18" charset="0"/>
              </a:rPr>
              <a:t>Step 1</a:t>
            </a:r>
            <a:r>
              <a:rPr lang="en-US" sz="1600" b="1" dirty="0">
                <a:solidFill>
                  <a:schemeClr val="tx1">
                    <a:lumMod val="85000"/>
                    <a:lumOff val="15000"/>
                  </a:schemeClr>
                </a:solidFill>
                <a:latin typeface="Times New Roman" panose="02020603050405020304" pitchFamily="18" charset="0"/>
                <a:cs typeface="Times New Roman" panose="02020603050405020304" pitchFamily="18" charset="0"/>
              </a:rPr>
              <a:t>: Install Playwright</a:t>
            </a:r>
          </a:p>
          <a:p>
            <a:r>
              <a:rPr lang="en-US" sz="1600" dirty="0">
                <a:latin typeface="Times New Roman" panose="02020603050405020304" pitchFamily="18" charset="0"/>
                <a:cs typeface="Times New Roman" panose="02020603050405020304" pitchFamily="18" charset="0"/>
              </a:rPr>
              <a:t>In your React project root folder, run:</a:t>
            </a:r>
          </a:p>
          <a:p>
            <a:r>
              <a:rPr lang="en-US" sz="1600" dirty="0">
                <a:highlight>
                  <a:srgbClr val="000000"/>
                </a:highlight>
                <a:latin typeface="Times New Roman" panose="02020603050405020304" pitchFamily="18" charset="0"/>
                <a:cs typeface="Times New Roman" panose="02020603050405020304" pitchFamily="18" charset="0"/>
              </a:rPr>
              <a:t>npm init playwright @latest</a:t>
            </a:r>
          </a:p>
          <a:p>
            <a:r>
              <a:rPr lang="en-US" sz="1600" dirty="0">
                <a:latin typeface="Times New Roman" panose="02020603050405020304" pitchFamily="18" charset="0"/>
                <a:cs typeface="Times New Roman" panose="02020603050405020304" pitchFamily="18" charset="0"/>
              </a:rPr>
              <a:t>This command: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Installs Playwright and its dependencies.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Sets up folder structure for tests.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Installs browsers automatically. </a:t>
            </a:r>
          </a:p>
          <a:p>
            <a:r>
              <a:rPr lang="en-US" sz="1600" dirty="0">
                <a:latin typeface="Times New Roman" panose="02020603050405020304" pitchFamily="18" charset="0"/>
                <a:cs typeface="Times New Roman" panose="02020603050405020304" pitchFamily="18" charset="0"/>
              </a:rPr>
              <a:t>If you want a minimal setup:</a:t>
            </a:r>
          </a:p>
          <a:p>
            <a:r>
              <a:rPr lang="en-US" sz="1600" dirty="0">
                <a:highlight>
                  <a:srgbClr val="000000"/>
                </a:highlight>
                <a:latin typeface="Times New Roman" panose="02020603050405020304" pitchFamily="18" charset="0"/>
                <a:cs typeface="Times New Roman" panose="02020603050405020304" pitchFamily="18" charset="0"/>
              </a:rPr>
              <a:t>npm install -D @playwright/testnpx playwright install</a:t>
            </a:r>
          </a:p>
        </p:txBody>
      </p:sp>
    </p:spTree>
    <p:extLst>
      <p:ext uri="{BB962C8B-B14F-4D97-AF65-F5344CB8AC3E}">
        <p14:creationId xmlns:p14="http://schemas.microsoft.com/office/powerpoint/2010/main" val="2699371406"/>
      </p:ext>
    </p:extLst>
  </p:cSld>
  <p:clrMapOvr>
    <a:masterClrMapping/>
  </p:clrMapOvr>
  <mc:AlternateContent xmlns:mc="http://schemas.openxmlformats.org/markup-compatibility/2006" xmlns:p14="http://schemas.microsoft.com/office/powerpoint/2010/main">
    <mc:Choice Requires="p14">
      <p:transition spd="slow" p14:dur="2000" advTm="146129"/>
    </mc:Choice>
    <mc:Fallback xmlns="">
      <p:transition spd="slow" advTm="14612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7FD7-A525-E377-EF59-2CBCCC22A7E3}"/>
              </a:ext>
            </a:extLst>
          </p:cNvPr>
          <p:cNvSpPr>
            <a:spLocks noGrp="1"/>
          </p:cNvSpPr>
          <p:nvPr>
            <p:ph type="title"/>
          </p:nvPr>
        </p:nvSpPr>
        <p:spPr>
          <a:xfrm>
            <a:off x="1097280" y="757645"/>
            <a:ext cx="10058400" cy="1018904"/>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sz="3100" b="1" dirty="0">
                <a:solidFill>
                  <a:schemeClr val="accent1">
                    <a:lumMod val="75000"/>
                  </a:schemeClr>
                </a:solidFill>
                <a:latin typeface="Times New Roman" panose="02020603050405020304" pitchFamily="18" charset="0"/>
                <a:cs typeface="Times New Roman" panose="02020603050405020304" pitchFamily="18" charset="0"/>
              </a:rPr>
              <a:t>Steps to Set Up Automated E2E Testing in React using Playwright</a:t>
            </a:r>
            <a:endParaRPr lang="en-US" sz="31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78EFAC-99BD-FE90-C606-F3964670CD41}"/>
              </a:ext>
            </a:extLst>
          </p:cNvPr>
          <p:cNvSpPr>
            <a:spLocks noGrp="1"/>
          </p:cNvSpPr>
          <p:nvPr>
            <p:ph idx="1"/>
          </p:nvPr>
        </p:nvSpPr>
        <p:spPr>
          <a:xfrm>
            <a:off x="1097280" y="1776549"/>
            <a:ext cx="10058400" cy="4435715"/>
          </a:xfrm>
        </p:spPr>
        <p:txBody>
          <a:bodyPr>
            <a:normAutofit fontScale="70000" lnSpcReduction="20000"/>
          </a:bodyPr>
          <a:lstStyle/>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r>
              <a:rPr lang="en-US" sz="2400" b="1" u="sng" dirty="0">
                <a:latin typeface="Times New Roman" panose="02020603050405020304" pitchFamily="18" charset="0"/>
                <a:cs typeface="Times New Roman" panose="02020603050405020304" pitchFamily="18" charset="0"/>
              </a:rPr>
              <a:t>Step 3</a:t>
            </a:r>
            <a:r>
              <a:rPr lang="en-US" sz="2400" b="1" dirty="0">
                <a:latin typeface="Times New Roman" panose="02020603050405020304" pitchFamily="18" charset="0"/>
                <a:cs typeface="Times New Roman" panose="02020603050405020304" pitchFamily="18" charset="0"/>
              </a:rPr>
              <a:t>: Write Your First E2E Test </a:t>
            </a:r>
          </a:p>
          <a:p>
            <a:pPr marL="0" indent="0">
              <a:buNone/>
            </a:pPr>
            <a:r>
              <a:rPr lang="en-US" sz="2300" dirty="0">
                <a:latin typeface="Times New Roman" panose="02020603050405020304" pitchFamily="18" charset="0"/>
                <a:cs typeface="Times New Roman" panose="02020603050405020304" pitchFamily="18" charset="0"/>
              </a:rPr>
              <a:t>Create a test file inside tests/ - test API.SPEC.TS</a:t>
            </a:r>
          </a:p>
          <a:p>
            <a:pPr marL="0" indent="0">
              <a:buNone/>
            </a:pPr>
            <a:r>
              <a:rPr lang="en-US" sz="2300" dirty="0">
                <a:solidFill>
                  <a:srgbClr val="FF0000"/>
                </a:solidFill>
                <a:latin typeface="Times New Roman" panose="02020603050405020304" pitchFamily="18" charset="0"/>
                <a:cs typeface="Times New Roman" panose="02020603050405020304" pitchFamily="18" charset="0"/>
              </a:rPr>
              <a:t>import { test, expect } from '@playwright/test’;</a:t>
            </a:r>
          </a:p>
          <a:p>
            <a:pPr marL="0" indent="0">
              <a:buNone/>
            </a:pPr>
            <a:r>
              <a:rPr lang="en-US" sz="2300" dirty="0">
                <a:solidFill>
                  <a:srgbClr val="FF0000"/>
                </a:solidFill>
                <a:latin typeface="Times New Roman" panose="02020603050405020304" pitchFamily="18" charset="0"/>
                <a:cs typeface="Times New Roman" panose="02020603050405020304" pitchFamily="18" charset="0"/>
              </a:rPr>
              <a:t>test('User can load home page', async ({ page }) =&gt; {</a:t>
            </a:r>
          </a:p>
          <a:p>
            <a:pPr marL="0" indent="0">
              <a:buNone/>
            </a:pPr>
            <a:r>
              <a:rPr lang="en-US" sz="2300" dirty="0">
                <a:solidFill>
                  <a:srgbClr val="FF0000"/>
                </a:solidFill>
                <a:latin typeface="Times New Roman" panose="02020603050405020304" pitchFamily="18" charset="0"/>
                <a:cs typeface="Times New Roman" panose="02020603050405020304" pitchFamily="18" charset="0"/>
              </a:rPr>
              <a:t>  </a:t>
            </a:r>
            <a:r>
              <a:rPr lang="en-US" sz="2300" dirty="0">
                <a:solidFill>
                  <a:srgbClr val="00B050"/>
                </a:solidFill>
                <a:latin typeface="Times New Roman" panose="02020603050405020304" pitchFamily="18" charset="0"/>
                <a:cs typeface="Times New Roman" panose="02020603050405020304" pitchFamily="18" charset="0"/>
              </a:rPr>
              <a:t>await page.goto('http://localhost:3000’); </a:t>
            </a:r>
          </a:p>
          <a:p>
            <a:pPr marL="0" indent="0">
              <a:buNone/>
            </a:pPr>
            <a:r>
              <a:rPr lang="en-US" sz="2300" dirty="0">
                <a:solidFill>
                  <a:srgbClr val="00B050"/>
                </a:solidFill>
                <a:latin typeface="Times New Roman" panose="02020603050405020304" pitchFamily="18" charset="0"/>
                <a:cs typeface="Times New Roman" panose="02020603050405020304" pitchFamily="18" charset="0"/>
              </a:rPr>
              <a:t>  await expect(page).toHaveTitle(/React App/);});</a:t>
            </a:r>
          </a:p>
          <a:p>
            <a:pPr marL="0" indent="0">
              <a:buNone/>
            </a:pPr>
            <a:r>
              <a:rPr lang="en-US" sz="2300" dirty="0">
                <a:solidFill>
                  <a:srgbClr val="FF0000"/>
                </a:solidFill>
                <a:latin typeface="Times New Roman" panose="02020603050405020304" pitchFamily="18" charset="0"/>
                <a:cs typeface="Times New Roman" panose="02020603050405020304" pitchFamily="18" charset="0"/>
              </a:rPr>
              <a:t>test('User can log in successfully', async ({ page }) =&gt; { </a:t>
            </a:r>
          </a:p>
          <a:p>
            <a:pPr marL="0" indent="0">
              <a:buNone/>
            </a:pPr>
            <a:r>
              <a:rPr lang="en-US" sz="2300" dirty="0">
                <a:solidFill>
                  <a:srgbClr val="FF0000"/>
                </a:solidFill>
                <a:latin typeface="Times New Roman" panose="02020603050405020304" pitchFamily="18" charset="0"/>
                <a:cs typeface="Times New Roman" panose="02020603050405020304" pitchFamily="18" charset="0"/>
              </a:rPr>
              <a:t>  </a:t>
            </a:r>
            <a:r>
              <a:rPr lang="en-US" sz="2300" dirty="0">
                <a:solidFill>
                  <a:srgbClr val="00B050"/>
                </a:solidFill>
                <a:latin typeface="Times New Roman" panose="02020603050405020304" pitchFamily="18" charset="0"/>
                <a:cs typeface="Times New Roman" panose="02020603050405020304" pitchFamily="18" charset="0"/>
              </a:rPr>
              <a:t>await page.goto('http://localhost:3000/login');  </a:t>
            </a:r>
          </a:p>
          <a:p>
            <a:pPr marL="0" indent="0">
              <a:buNone/>
            </a:pPr>
            <a:r>
              <a:rPr lang="en-US" sz="2300" dirty="0">
                <a:solidFill>
                  <a:srgbClr val="00B050"/>
                </a:solidFill>
                <a:latin typeface="Times New Roman" panose="02020603050405020304" pitchFamily="18" charset="0"/>
                <a:cs typeface="Times New Roman" panose="02020603050405020304" pitchFamily="18" charset="0"/>
              </a:rPr>
              <a:t>   await page.fill('#username', 'admin’);</a:t>
            </a:r>
          </a:p>
          <a:p>
            <a:pPr marL="0" indent="0">
              <a:buNone/>
            </a:pPr>
            <a:r>
              <a:rPr lang="en-US" sz="2300" dirty="0">
                <a:solidFill>
                  <a:srgbClr val="00B050"/>
                </a:solidFill>
                <a:latin typeface="Times New Roman" panose="02020603050405020304" pitchFamily="18" charset="0"/>
                <a:cs typeface="Times New Roman" panose="02020603050405020304" pitchFamily="18" charset="0"/>
              </a:rPr>
              <a:t>   await page.fill('#password', 'password123');  </a:t>
            </a:r>
          </a:p>
          <a:p>
            <a:pPr marL="0" indent="0">
              <a:buNone/>
            </a:pPr>
            <a:r>
              <a:rPr lang="en-US" sz="2300" dirty="0">
                <a:solidFill>
                  <a:srgbClr val="00B050"/>
                </a:solidFill>
                <a:latin typeface="Times New Roman" panose="02020603050405020304" pitchFamily="18" charset="0"/>
                <a:cs typeface="Times New Roman" panose="02020603050405020304" pitchFamily="18" charset="0"/>
              </a:rPr>
              <a:t>   await page.click('button[type="submit"]’); </a:t>
            </a:r>
          </a:p>
          <a:p>
            <a:pPr marL="0" indent="0">
              <a:buNone/>
            </a:pPr>
            <a:r>
              <a:rPr lang="en-US" sz="2300" dirty="0">
                <a:solidFill>
                  <a:srgbClr val="00B050"/>
                </a:solidFill>
                <a:latin typeface="Times New Roman" panose="02020603050405020304" pitchFamily="18" charset="0"/>
                <a:cs typeface="Times New Roman" panose="02020603050405020304" pitchFamily="18" charset="0"/>
              </a:rPr>
              <a:t>   await expect(page).toHaveURL(/dashboard/});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3302792"/>
      </p:ext>
    </p:extLst>
  </p:cSld>
  <p:clrMapOvr>
    <a:masterClrMapping/>
  </p:clrMapOvr>
  <mc:AlternateContent xmlns:mc="http://schemas.openxmlformats.org/markup-compatibility/2006" xmlns:p14="http://schemas.microsoft.com/office/powerpoint/2010/main">
    <mc:Choice Requires="p14">
      <p:transition spd="slow" p14:dur="2000" advTm="114457"/>
    </mc:Choice>
    <mc:Fallback xmlns="">
      <p:transition spd="slow" advTm="11445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32E09-8565-B852-3333-E783CD9538AE}"/>
              </a:ext>
            </a:extLst>
          </p:cNvPr>
          <p:cNvSpPr>
            <a:spLocks noGrp="1"/>
          </p:cNvSpPr>
          <p:nvPr>
            <p:ph type="title"/>
          </p:nvPr>
        </p:nvSpPr>
        <p:spPr/>
        <p:txBody>
          <a:bodyPr>
            <a:normAutofit/>
          </a:bodyPr>
          <a:lstStyle/>
          <a:p>
            <a:r>
              <a:rPr lang="en-US" sz="20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ADDDBD-FAE2-4E20-E2D6-0E47EB919BE9}"/>
              </a:ext>
            </a:extLst>
          </p:cNvPr>
          <p:cNvSpPr>
            <a:spLocks noGrp="1"/>
          </p:cNvSpPr>
          <p:nvPr>
            <p:ph sz="half" idx="1"/>
          </p:nvPr>
        </p:nvSpPr>
        <p:spPr>
          <a:xfrm>
            <a:off x="1097279" y="1942010"/>
            <a:ext cx="4719059" cy="3927083"/>
          </a:xfrm>
        </p:spPr>
        <p:txBody>
          <a:bodyPr>
            <a:normAutofit fontScale="92500" lnSpcReduction="10000"/>
          </a:bodyPr>
          <a:lstStyle/>
          <a:p>
            <a:pPr marL="0" indent="0">
              <a:buNone/>
            </a:pPr>
            <a:r>
              <a:rPr lang="en-US" b="1" u="sng" dirty="0">
                <a:latin typeface="Times New Roman" panose="02020603050405020304" pitchFamily="18" charset="0"/>
                <a:cs typeface="Times New Roman" panose="02020603050405020304" pitchFamily="18" charset="0"/>
              </a:rPr>
              <a:t>Step 4</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Run the Test </a:t>
            </a:r>
          </a:p>
          <a:p>
            <a:pPr marL="0" indent="0">
              <a:buNone/>
            </a:pPr>
            <a:r>
              <a:rPr lang="en-US" dirty="0">
                <a:latin typeface="Times New Roman" panose="02020603050405020304" pitchFamily="18" charset="0"/>
                <a:cs typeface="Times New Roman" panose="02020603050405020304" pitchFamily="18" charset="0"/>
              </a:rPr>
              <a:t>To run all tests in headless mode (no browser UI),</a:t>
            </a:r>
          </a:p>
          <a:p>
            <a:pPr marL="0" indent="0">
              <a:buNone/>
            </a:pPr>
            <a:r>
              <a:rPr lang="en-US" dirty="0">
                <a:latin typeface="Times New Roman" panose="02020603050405020304" pitchFamily="18" charset="0"/>
                <a:cs typeface="Times New Roman" panose="02020603050405020304" pitchFamily="18" charset="0"/>
              </a:rPr>
              <a:t>npx playwright test: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To run with a visible browser window (for debugging) – npx playwright test(headed).</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To open the Playwright Test UI – npx playwright test(ui).</a:t>
            </a:r>
          </a:p>
          <a:p>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82A5C6E-9C11-CF38-62B7-4F3AB21CAE8C}"/>
              </a:ext>
            </a:extLst>
          </p:cNvPr>
          <p:cNvSpPr>
            <a:spLocks noGrp="1"/>
          </p:cNvSpPr>
          <p:nvPr>
            <p:ph sz="half" idx="2"/>
          </p:nvPr>
        </p:nvSpPr>
        <p:spPr>
          <a:xfrm>
            <a:off x="6297104" y="1942011"/>
            <a:ext cx="4858575" cy="3927084"/>
          </a:xfrm>
        </p:spPr>
        <p:txBody>
          <a:bodyPr>
            <a:normAutofit fontScale="92500" lnSpcReduction="10000"/>
          </a:bodyPr>
          <a:lstStyle/>
          <a:p>
            <a:pPr marL="0" indent="0">
              <a:buNone/>
            </a:pPr>
            <a:r>
              <a:rPr lang="en-US" b="1" u="sng" dirty="0">
                <a:latin typeface="Times New Roman" panose="02020603050405020304" pitchFamily="18" charset="0"/>
                <a:cs typeface="Times New Roman" panose="02020603050405020304" pitchFamily="18" charset="0"/>
              </a:rPr>
              <a:t>Step 5:</a:t>
            </a:r>
            <a:r>
              <a:rPr lang="en-US" b="1" dirty="0">
                <a:latin typeface="Times New Roman" panose="02020603050405020304" pitchFamily="18" charset="0"/>
                <a:cs typeface="Times New Roman" panose="02020603050405020304" pitchFamily="18" charset="0"/>
              </a:rPr>
              <a:t> Configure Base URL</a:t>
            </a:r>
            <a:r>
              <a:rPr lang="en-US" sz="2400" b="1"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In playwright.config.ts, you can set a base URL so you don’t repeat it in every test:</a:t>
            </a:r>
          </a:p>
          <a:p>
            <a:pPr marL="0" indent="0">
              <a:buNone/>
            </a:pPr>
            <a:r>
              <a:rPr lang="en-US" dirty="0">
                <a:solidFill>
                  <a:srgbClr val="FF0000"/>
                </a:solidFill>
                <a:latin typeface="Times New Roman" panose="02020603050405020304" pitchFamily="18" charset="0"/>
                <a:cs typeface="Times New Roman" panose="02020603050405020304" pitchFamily="18" charset="0"/>
              </a:rPr>
              <a:t>import { defineConfig } from '@playwright/test’;</a:t>
            </a:r>
          </a:p>
          <a:p>
            <a:pPr marL="0" indent="0">
              <a:buNone/>
            </a:pPr>
            <a:r>
              <a:rPr lang="en-US" dirty="0">
                <a:solidFill>
                  <a:srgbClr val="FF0000"/>
                </a:solidFill>
                <a:latin typeface="Times New Roman" panose="02020603050405020304" pitchFamily="18" charset="0"/>
                <a:cs typeface="Times New Roman" panose="02020603050405020304" pitchFamily="18" charset="0"/>
              </a:rPr>
              <a:t>export default defineConfig({  </a:t>
            </a:r>
          </a:p>
          <a:p>
            <a:pPr marL="0" indent="0">
              <a:buNone/>
            </a:pPr>
            <a:r>
              <a:rPr lang="en-US" dirty="0">
                <a:solidFill>
                  <a:srgbClr val="FF0000"/>
                </a:solidFill>
                <a:latin typeface="Times New Roman" panose="02020603050405020304" pitchFamily="18" charset="0"/>
                <a:cs typeface="Times New Roman" panose="02020603050405020304" pitchFamily="18" charset="0"/>
              </a:rPr>
              <a:t>use: {  </a:t>
            </a:r>
          </a:p>
          <a:p>
            <a:pPr marL="0" indent="0">
              <a:buNone/>
            </a:pPr>
            <a:r>
              <a:rPr lang="en-US" dirty="0">
                <a:solidFill>
                  <a:srgbClr val="FF0000"/>
                </a:solidFill>
                <a:latin typeface="Times New Roman" panose="02020603050405020304" pitchFamily="18" charset="0"/>
                <a:cs typeface="Times New Roman" panose="02020603050405020304" pitchFamily="18" charset="0"/>
              </a:rPr>
              <a:t>  baseURL: 'http://localhost:3000',   </a:t>
            </a:r>
          </a:p>
          <a:p>
            <a:pPr marL="0" indent="0">
              <a:buNone/>
            </a:pPr>
            <a:r>
              <a:rPr lang="en-US" dirty="0">
                <a:solidFill>
                  <a:srgbClr val="FF0000"/>
                </a:solidFill>
                <a:latin typeface="Times New Roman" panose="02020603050405020304" pitchFamily="18" charset="0"/>
                <a:cs typeface="Times New Roman" panose="02020603050405020304" pitchFamily="18" charset="0"/>
              </a:rPr>
              <a:t>  browserName: 'chromium',  },</a:t>
            </a:r>
          </a:p>
          <a:p>
            <a:pPr marL="0" indent="0">
              <a:buNone/>
            </a:pPr>
            <a:r>
              <a:rPr lang="en-US" dirty="0">
                <a:solidFill>
                  <a:srgbClr val="FF0000"/>
                </a:solidFill>
                <a:latin typeface="Times New Roman" panose="02020603050405020304" pitchFamily="18" charset="0"/>
                <a:cs typeface="Times New Roman" panose="02020603050405020304" pitchFamily="18" charset="0"/>
              </a:rPr>
              <a:t>  });Then your test becomes cleaner:</a:t>
            </a:r>
          </a:p>
          <a:p>
            <a:pPr marL="0" indent="0">
              <a:buNone/>
            </a:pPr>
            <a:r>
              <a:rPr lang="en-US" dirty="0">
                <a:solidFill>
                  <a:srgbClr val="FF0000"/>
                </a:solidFill>
                <a:latin typeface="Times New Roman" panose="02020603050405020304" pitchFamily="18" charset="0"/>
                <a:cs typeface="Times New Roman" panose="02020603050405020304" pitchFamily="18" charset="0"/>
              </a:rPr>
              <a:t>await page.goto('/');</a:t>
            </a:r>
          </a:p>
          <a:p>
            <a:endParaRPr lang="en-US"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25361302-354D-8C94-768E-F7FED4EE8F6C}"/>
              </a:ext>
            </a:extLst>
          </p:cNvPr>
          <p:cNvSpPr txBox="1">
            <a:spLocks/>
          </p:cNvSpPr>
          <p:nvPr/>
        </p:nvSpPr>
        <p:spPr>
          <a:xfrm>
            <a:off x="1097280" y="263526"/>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Steps to Set Up Automated E2E Testing in React using Playwright</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1628921"/>
      </p:ext>
    </p:extLst>
  </p:cSld>
  <p:clrMapOvr>
    <a:masterClrMapping/>
  </p:clrMapOvr>
  <mc:AlternateContent xmlns:mc="http://schemas.openxmlformats.org/markup-compatibility/2006" xmlns:p14="http://schemas.microsoft.com/office/powerpoint/2010/main">
    <mc:Choice Requires="p14">
      <p:transition spd="slow" p14:dur="2000" advTm="146828"/>
    </mc:Choice>
    <mc:Fallback xmlns="">
      <p:transition spd="slow" advTm="14682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97703-D639-C26E-37C6-D5EF9E9DD778}"/>
              </a:ext>
            </a:extLst>
          </p:cNvPr>
          <p:cNvSpPr>
            <a:spLocks noGrp="1"/>
          </p:cNvSpPr>
          <p:nvPr>
            <p:ph type="title"/>
          </p:nvPr>
        </p:nvSpPr>
        <p:spPr>
          <a:xfrm>
            <a:off x="1097280" y="918199"/>
            <a:ext cx="10058400" cy="1450757"/>
          </a:xfrm>
        </p:spPr>
        <p:txBody>
          <a:bodyPr>
            <a:normAutofit fontScale="90000"/>
          </a:bodyPr>
          <a:lstStyle/>
          <a:p>
            <a:r>
              <a:rPr lang="en-US" sz="3100" b="1" dirty="0">
                <a:solidFill>
                  <a:schemeClr val="accent1">
                    <a:lumMod val="75000"/>
                  </a:schemeClr>
                </a:solidFill>
                <a:latin typeface="Times New Roman" panose="02020603050405020304" pitchFamily="18" charset="0"/>
                <a:cs typeface="Times New Roman" panose="02020603050405020304" pitchFamily="18" charset="0"/>
              </a:rPr>
              <a:t>Steps to Set Up Automated E2E Testing in React using Playwright</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C9D180-E8A2-A0C9-C141-F591426769C8}"/>
              </a:ext>
            </a:extLst>
          </p:cNvPr>
          <p:cNvSpPr>
            <a:spLocks noGrp="1"/>
          </p:cNvSpPr>
          <p:nvPr>
            <p:ph sz="half" idx="1"/>
          </p:nvPr>
        </p:nvSpPr>
        <p:spPr/>
        <p:txBody>
          <a:bodyPr>
            <a:normAutofit lnSpcReduction="10000"/>
          </a:bodyPr>
          <a:lstStyle/>
          <a:p>
            <a:r>
              <a:rPr lang="en-US" b="1" u="sng" dirty="0">
                <a:latin typeface="Times New Roman" panose="02020603050405020304" pitchFamily="18" charset="0"/>
                <a:cs typeface="Times New Roman" panose="02020603050405020304" pitchFamily="18" charset="0"/>
              </a:rPr>
              <a:t>Step 6</a:t>
            </a:r>
            <a:r>
              <a:rPr lang="en-US" b="1" dirty="0">
                <a:latin typeface="Times New Roman" panose="02020603050405020304" pitchFamily="18" charset="0"/>
                <a:cs typeface="Times New Roman" panose="02020603050405020304" pitchFamily="18" charset="0"/>
              </a:rPr>
              <a:t>: Integrate with CI/CD </a:t>
            </a:r>
          </a:p>
          <a:p>
            <a:r>
              <a:rPr lang="en-US" dirty="0">
                <a:latin typeface="Times New Roman" panose="02020603050405020304" pitchFamily="18" charset="0"/>
                <a:cs typeface="Times New Roman" panose="02020603050405020304" pitchFamily="18" charset="0"/>
              </a:rPr>
              <a:t>Example: GitHub Actions workflow file .github/workflows/playwright.yml</a:t>
            </a:r>
          </a:p>
          <a:p>
            <a:r>
              <a:rPr lang="en-US" dirty="0">
                <a:solidFill>
                  <a:schemeClr val="accent1">
                    <a:lumMod val="75000"/>
                  </a:schemeClr>
                </a:solidFill>
                <a:latin typeface="Times New Roman" panose="02020603050405020304" pitchFamily="18" charset="0"/>
                <a:cs typeface="Times New Roman" panose="02020603050405020304" pitchFamily="18" charset="0"/>
              </a:rPr>
              <a:t>name: Playwright Tests</a:t>
            </a:r>
          </a:p>
          <a:p>
            <a:r>
              <a:rPr lang="en-US" dirty="0">
                <a:solidFill>
                  <a:schemeClr val="accent1">
                    <a:lumMod val="75000"/>
                  </a:schemeClr>
                </a:solidFill>
                <a:latin typeface="Times New Roman" panose="02020603050405020304" pitchFamily="18" charset="0"/>
                <a:cs typeface="Times New Roman" panose="02020603050405020304" pitchFamily="18" charset="0"/>
              </a:rPr>
              <a:t>on: [push, pull_request]</a:t>
            </a:r>
          </a:p>
          <a:p>
            <a:r>
              <a:rPr lang="en-US" dirty="0">
                <a:solidFill>
                  <a:schemeClr val="bg2">
                    <a:lumMod val="10000"/>
                  </a:schemeClr>
                </a:solidFill>
                <a:latin typeface="Times New Roman" panose="02020603050405020304" pitchFamily="18" charset="0"/>
                <a:cs typeface="Times New Roman" panose="02020603050405020304" pitchFamily="18" charset="0"/>
              </a:rPr>
              <a:t>jobs:</a:t>
            </a:r>
          </a:p>
          <a:p>
            <a:r>
              <a:rPr lang="en-US" dirty="0">
                <a:solidFill>
                  <a:schemeClr val="bg2">
                    <a:lumMod val="10000"/>
                  </a:schemeClr>
                </a:solidFill>
                <a:latin typeface="Times New Roman" panose="02020603050405020304" pitchFamily="18" charset="0"/>
                <a:cs typeface="Times New Roman" panose="02020603050405020304" pitchFamily="18" charset="0"/>
              </a:rPr>
              <a:t>  test:  </a:t>
            </a:r>
          </a:p>
          <a:p>
            <a:r>
              <a:rPr lang="en-US" dirty="0">
                <a:solidFill>
                  <a:schemeClr val="bg2">
                    <a:lumMod val="10000"/>
                  </a:schemeClr>
                </a:solidFill>
                <a:latin typeface="Times New Roman" panose="02020603050405020304" pitchFamily="18" charset="0"/>
                <a:cs typeface="Times New Roman" panose="02020603050405020304" pitchFamily="18" charset="0"/>
              </a:rPr>
              <a:t>  runs-on: ubuntu-latest   </a:t>
            </a:r>
          </a:p>
          <a:p>
            <a:r>
              <a:rPr lang="en-US" dirty="0">
                <a:solidFill>
                  <a:schemeClr val="bg2">
                    <a:lumMod val="10000"/>
                  </a:schemeClr>
                </a:solidFill>
                <a:latin typeface="Times New Roman" panose="02020603050405020304" pitchFamily="18" charset="0"/>
                <a:cs typeface="Times New Roman" panose="02020603050405020304" pitchFamily="18" charset="0"/>
              </a:rPr>
              <a:t> steps: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  uses: actions/checkout@v4</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856B1EA-6D91-3EB4-3158-645B9091BC22}"/>
              </a:ext>
            </a:extLst>
          </p:cNvPr>
          <p:cNvSpPr>
            <a:spLocks noGrp="1"/>
          </p:cNvSpPr>
          <p:nvPr>
            <p:ph sz="half" idx="2"/>
          </p:nvPr>
        </p:nvSpPr>
        <p:spPr/>
        <p:txBody>
          <a:bodyPr>
            <a:normAutofit lnSpcReduction="10000"/>
          </a:bodyPr>
          <a:lstStyle/>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 uses: actions/setup-node@v4      </a:t>
            </a:r>
          </a:p>
          <a:p>
            <a:r>
              <a:rPr lang="en-US" sz="1600" dirty="0">
                <a:latin typeface="Times New Roman" panose="02020603050405020304" pitchFamily="18" charset="0"/>
                <a:cs typeface="Times New Roman" panose="02020603050405020304" pitchFamily="18" charset="0"/>
              </a:rPr>
              <a:t> </a:t>
            </a:r>
            <a:r>
              <a:rPr lang="en-US" dirty="0">
                <a:solidFill>
                  <a:schemeClr val="bg2">
                    <a:lumMod val="10000"/>
                  </a:schemeClr>
                </a:solidFill>
                <a:latin typeface="Times New Roman" panose="02020603050405020304" pitchFamily="18" charset="0"/>
                <a:cs typeface="Times New Roman" panose="02020603050405020304" pitchFamily="18" charset="0"/>
              </a:rPr>
              <a:t>with: node-version: 18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    run: npm ci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     run: npx playwright install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     run: npx playwright test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7751599"/>
      </p:ext>
    </p:extLst>
  </p:cSld>
  <p:clrMapOvr>
    <a:masterClrMapping/>
  </p:clrMapOvr>
  <mc:AlternateContent xmlns:mc="http://schemas.openxmlformats.org/markup-compatibility/2006" xmlns:p14="http://schemas.microsoft.com/office/powerpoint/2010/main">
    <mc:Choice Requires="p14">
      <p:transition spd="slow" p14:dur="2000" advTm="189776"/>
    </mc:Choice>
    <mc:Fallback xmlns="">
      <p:transition spd="slow" advTm="18977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B5690-0790-1D0A-2AFD-204B5C65423D}"/>
              </a:ext>
            </a:extLst>
          </p:cNvPr>
          <p:cNvSpPr>
            <a:spLocks noGrp="1"/>
          </p:cNvSpPr>
          <p:nvPr>
            <p:ph type="title"/>
          </p:nvPr>
        </p:nvSpPr>
        <p:spPr/>
        <p:txBody>
          <a:bodyPr>
            <a:normAutofit/>
          </a:bodyPr>
          <a:lstStyle/>
          <a:p>
            <a:r>
              <a:rPr lang="en-US" sz="3600" b="1" dirty="0">
                <a:solidFill>
                  <a:schemeClr val="accent1">
                    <a:lumMod val="75000"/>
                  </a:schemeClr>
                </a:solidFill>
                <a:latin typeface="Times New Roman" panose="02020603050405020304" pitchFamily="18" charset="0"/>
                <a:cs typeface="Times New Roman" panose="02020603050405020304" pitchFamily="18" charset="0"/>
              </a:rPr>
              <a:t>Topic 2: Prepare a basic JMETER Performance Test for a REST API</a:t>
            </a:r>
          </a:p>
        </p:txBody>
      </p:sp>
      <p:sp>
        <p:nvSpPr>
          <p:cNvPr id="3" name="Content Placeholder 2">
            <a:extLst>
              <a:ext uri="{FF2B5EF4-FFF2-40B4-BE49-F238E27FC236}">
                <a16:creationId xmlns:a16="http://schemas.microsoft.com/office/drawing/2014/main" id="{4F7D0BF1-EDC2-525F-78BF-8763B2DD851C}"/>
              </a:ext>
            </a:extLst>
          </p:cNvPr>
          <p:cNvSpPr>
            <a:spLocks noGrp="1"/>
          </p:cNvSpPr>
          <p:nvPr>
            <p:ph idx="1"/>
          </p:nvPr>
        </p:nvSpPr>
        <p:spPr/>
        <p:txBody>
          <a:bodyPr>
            <a:normAutofit lnSpcReduction="10000"/>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What is Apache JMeter?</a:t>
            </a:r>
          </a:p>
          <a:p>
            <a:r>
              <a:rPr lang="en-US" dirty="0">
                <a:latin typeface="Times New Roman" panose="02020603050405020304" pitchFamily="18" charset="0"/>
                <a:cs typeface="Times New Roman" panose="02020603050405020304" pitchFamily="18" charset="0"/>
              </a:rPr>
              <a:t>Apache JMeter is an open-source performance testing tool created by the Apache Software Foundation. It is mainly used to test the speed, scalability, and stability of web applications, APIs, and servers under various user loads.</a:t>
            </a:r>
          </a:p>
          <a:p>
            <a:r>
              <a:rPr lang="en-US" dirty="0">
                <a:latin typeface="Times New Roman" panose="02020603050405020304" pitchFamily="18" charset="0"/>
                <a:cs typeface="Times New Roman" panose="02020603050405020304" pitchFamily="18" charset="0"/>
              </a:rPr>
              <a:t> </a:t>
            </a:r>
            <a:r>
              <a:rPr lang="en-US" b="1" dirty="0">
                <a:solidFill>
                  <a:schemeClr val="accent1">
                    <a:lumMod val="75000"/>
                  </a:schemeClr>
                </a:solidFill>
                <a:latin typeface="Times New Roman" panose="02020603050405020304" pitchFamily="18" charset="0"/>
                <a:cs typeface="Times New Roman" panose="02020603050405020304" pitchFamily="18" charset="0"/>
              </a:rPr>
              <a:t>Why Use JMeter for a React App?</a:t>
            </a:r>
          </a:p>
          <a:p>
            <a:r>
              <a:rPr lang="en-US" dirty="0">
                <a:latin typeface="Times New Roman" panose="02020603050405020304" pitchFamily="18" charset="0"/>
                <a:cs typeface="Times New Roman" panose="02020603050405020304" pitchFamily="18" charset="0"/>
              </a:rPr>
              <a:t>A React application is purely front-end (it runs in the browser).</a:t>
            </a:r>
          </a:p>
          <a:p>
            <a:r>
              <a:rPr lang="en-US" dirty="0">
                <a:latin typeface="Times New Roman" panose="02020603050405020304" pitchFamily="18" charset="0"/>
                <a:cs typeface="Times New Roman" panose="02020603050405020304" pitchFamily="18" charset="0"/>
              </a:rPr>
              <a:t>The actual data and logic come from backend APIs — for example :</a:t>
            </a:r>
          </a:p>
          <a:p>
            <a:r>
              <a:rPr lang="en-US" b="1" dirty="0">
                <a:solidFill>
                  <a:schemeClr val="accent1">
                    <a:lumMod val="75000"/>
                  </a:schemeClr>
                </a:solidFill>
                <a:latin typeface="Times New Roman" panose="02020603050405020304" pitchFamily="18" charset="0"/>
                <a:cs typeface="Times New Roman" panose="02020603050405020304" pitchFamily="18" charset="0"/>
              </a:rPr>
              <a:t>GET</a:t>
            </a:r>
            <a:r>
              <a:rPr lang="en-US" dirty="0">
                <a:solidFill>
                  <a:schemeClr val="accent1">
                    <a:lumMod val="75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2"/>
              </a:rPr>
              <a:t>https://api.myreactapp.com/products</a:t>
            </a:r>
            <a:endParaRPr lang="en-US" dirty="0">
              <a:latin typeface="Times New Roman" panose="02020603050405020304" pitchFamily="18" charset="0"/>
              <a:cs typeface="Times New Roman" panose="02020603050405020304" pitchFamily="18" charset="0"/>
            </a:endParaRPr>
          </a:p>
          <a:p>
            <a:r>
              <a:rPr lang="en-US" b="1" dirty="0">
                <a:solidFill>
                  <a:schemeClr val="accent1">
                    <a:lumMod val="75000"/>
                  </a:schemeClr>
                </a:solidFill>
                <a:latin typeface="Times New Roman" panose="02020603050405020304" pitchFamily="18" charset="0"/>
                <a:cs typeface="Times New Roman" panose="02020603050405020304" pitchFamily="18" charset="0"/>
              </a:rPr>
              <a:t>POST</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3"/>
              </a:rPr>
              <a:t>https://api.myreactapp.com/login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 to test React app performance, we test how well these APIs handle load using </a:t>
            </a:r>
            <a:r>
              <a:rPr lang="en-US" dirty="0" err="1">
                <a:latin typeface="Times New Roman" panose="02020603050405020304" pitchFamily="18" charset="0"/>
                <a:cs typeface="Times New Roman" panose="02020603050405020304" pitchFamily="18" charset="0"/>
              </a:rPr>
              <a:t>Jmeter</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65499746"/>
      </p:ext>
    </p:extLst>
  </p:cSld>
  <p:clrMapOvr>
    <a:masterClrMapping/>
  </p:clrMapOvr>
  <mc:AlternateContent xmlns:mc="http://schemas.openxmlformats.org/markup-compatibility/2006" xmlns:p14="http://schemas.microsoft.com/office/powerpoint/2010/main">
    <mc:Choice Requires="p14">
      <p:transition spd="slow" p14:dur="2000" advTm="105892"/>
    </mc:Choice>
    <mc:Fallback xmlns="">
      <p:transition spd="slow" advTm="10589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576C7-A72F-FB2A-B6C0-11378D397AA4}"/>
              </a:ext>
            </a:extLst>
          </p:cNvPr>
          <p:cNvSpPr>
            <a:spLocks noGrp="1"/>
          </p:cNvSpPr>
          <p:nvPr>
            <p:ph type="title"/>
          </p:nvPr>
        </p:nvSpPr>
        <p:spPr/>
        <p:txBody>
          <a:bodyPr>
            <a:norm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Steps to Create a Basic JMeter Test for a React API</a:t>
            </a:r>
          </a:p>
        </p:txBody>
      </p:sp>
      <p:sp>
        <p:nvSpPr>
          <p:cNvPr id="3" name="Content Placeholder 2">
            <a:extLst>
              <a:ext uri="{FF2B5EF4-FFF2-40B4-BE49-F238E27FC236}">
                <a16:creationId xmlns:a16="http://schemas.microsoft.com/office/drawing/2014/main" id="{86EECE5B-76B9-7164-E7A7-94AD4870C146}"/>
              </a:ext>
            </a:extLst>
          </p:cNvPr>
          <p:cNvSpPr>
            <a:spLocks noGrp="1"/>
          </p:cNvSpPr>
          <p:nvPr>
            <p:ph sz="half" idx="1"/>
          </p:nvPr>
        </p:nvSpPr>
        <p:spPr>
          <a:xfrm>
            <a:off x="1097279" y="1970201"/>
            <a:ext cx="4937760" cy="4062954"/>
          </a:xfrm>
        </p:spPr>
        <p:txBody>
          <a:bodyPr>
            <a:normAutofit fontScale="85000" lnSpcReduction="20000"/>
          </a:bodyPr>
          <a:lstStyle/>
          <a:p>
            <a:r>
              <a:rPr lang="en-US" b="1" u="sng" dirty="0">
                <a:latin typeface="Times New Roman" panose="02020603050405020304" pitchFamily="18" charset="0"/>
                <a:cs typeface="Times New Roman" panose="02020603050405020304" pitchFamily="18" charset="0"/>
              </a:rPr>
              <a:t>Step 1</a:t>
            </a:r>
            <a:r>
              <a:rPr lang="en-US" b="1" dirty="0">
                <a:latin typeface="Times New Roman" panose="02020603050405020304" pitchFamily="18" charset="0"/>
                <a:cs typeface="Times New Roman" panose="02020603050405020304" pitchFamily="18" charset="0"/>
              </a:rPr>
              <a:t>: Install JMeter</a:t>
            </a:r>
          </a:p>
          <a:p>
            <a:r>
              <a:rPr lang="en-US" dirty="0">
                <a:latin typeface="Times New Roman" panose="02020603050405020304" pitchFamily="18" charset="0"/>
                <a:cs typeface="Times New Roman" panose="02020603050405020304" pitchFamily="18" charset="0"/>
              </a:rPr>
              <a:t>1. Download from </a:t>
            </a:r>
            <a:r>
              <a:rPr lang="en-US" dirty="0">
                <a:latin typeface="Times New Roman" panose="02020603050405020304" pitchFamily="18" charset="0"/>
                <a:cs typeface="Times New Roman" panose="02020603050405020304" pitchFamily="18" charset="0"/>
                <a:hlinkClick r:id="rId2"/>
              </a:rPr>
              <a:t>https://jmeter.apache.org/download_jmeter.cgi</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 Extract and open: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Windows: bin/jmeter.bat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Mac/Linux: bin/JMeter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JMeter GUI opens.</a:t>
            </a:r>
          </a:p>
          <a:p>
            <a:r>
              <a:rPr lang="en-US" b="1" u="sng" dirty="0">
                <a:latin typeface="Times New Roman" panose="02020603050405020304" pitchFamily="18" charset="0"/>
                <a:cs typeface="Times New Roman" panose="02020603050405020304" pitchFamily="18" charset="0"/>
              </a:rPr>
              <a:t>Step 2:</a:t>
            </a:r>
            <a:r>
              <a:rPr lang="en-US" b="1" dirty="0">
                <a:latin typeface="Times New Roman" panose="02020603050405020304" pitchFamily="18" charset="0"/>
                <a:cs typeface="Times New Roman" panose="02020603050405020304" pitchFamily="18" charset="0"/>
              </a:rPr>
              <a:t> Create a Test Plan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Every test starts with a Test Plan, which is like the project file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Right-click on Test Plan – Rename it as React API Performance Test</a:t>
            </a:r>
          </a:p>
        </p:txBody>
      </p:sp>
      <p:sp>
        <p:nvSpPr>
          <p:cNvPr id="4" name="Content Placeholder 3">
            <a:extLst>
              <a:ext uri="{FF2B5EF4-FFF2-40B4-BE49-F238E27FC236}">
                <a16:creationId xmlns:a16="http://schemas.microsoft.com/office/drawing/2014/main" id="{664F0833-0C5B-AC67-BC02-2F74F4AE1673}"/>
              </a:ext>
            </a:extLst>
          </p:cNvPr>
          <p:cNvSpPr>
            <a:spLocks noGrp="1"/>
          </p:cNvSpPr>
          <p:nvPr>
            <p:ph sz="half" idx="2"/>
          </p:nvPr>
        </p:nvSpPr>
        <p:spPr>
          <a:xfrm>
            <a:off x="6217920" y="1970200"/>
            <a:ext cx="4937760" cy="4232637"/>
          </a:xfrm>
        </p:spPr>
        <p:txBody>
          <a:bodyPr>
            <a:normAutofit fontScale="85000" lnSpcReduction="20000"/>
          </a:bodyPr>
          <a:lstStyle/>
          <a:p>
            <a:r>
              <a:rPr lang="en-US" b="1" u="sng" dirty="0">
                <a:latin typeface="Times New Roman" panose="02020603050405020304" pitchFamily="18" charset="0"/>
                <a:cs typeface="Times New Roman" panose="02020603050405020304" pitchFamily="18" charset="0"/>
              </a:rPr>
              <a:t>Step 3:</a:t>
            </a:r>
            <a:r>
              <a:rPr lang="en-US" b="1" dirty="0">
                <a:latin typeface="Times New Roman" panose="02020603050405020304" pitchFamily="18" charset="0"/>
                <a:cs typeface="Times New Roman" panose="02020603050405020304" pitchFamily="18" charset="0"/>
              </a:rPr>
              <a:t> Add a Thread Group</a:t>
            </a:r>
          </a:p>
          <a:p>
            <a:r>
              <a:rPr lang="en-US" dirty="0">
                <a:latin typeface="Times New Roman" panose="02020603050405020304" pitchFamily="18" charset="0"/>
                <a:cs typeface="Times New Roman" panose="02020603050405020304" pitchFamily="18" charset="0"/>
              </a:rPr>
              <a:t>This defines how many users and requests you’ll simulate.</a:t>
            </a:r>
          </a:p>
          <a:p>
            <a:r>
              <a:rPr lang="en-US" dirty="0">
                <a:highlight>
                  <a:srgbClr val="C0C0C0"/>
                </a:highlight>
                <a:latin typeface="Times New Roman" panose="02020603050405020304" pitchFamily="18" charset="0"/>
                <a:cs typeface="Times New Roman" panose="02020603050405020304" pitchFamily="18" charset="0"/>
              </a:rPr>
              <a:t>Right-click Test Plan -&gt; Add -&gt; Threads (Users) -&gt; Thread Group</a:t>
            </a:r>
          </a:p>
          <a:p>
            <a:pPr marL="0" indent="0">
              <a:buNone/>
            </a:pPr>
            <a:r>
              <a:rPr lang="en-US" dirty="0">
                <a:latin typeface="Times New Roman" panose="02020603050405020304" pitchFamily="18" charset="0"/>
                <a:cs typeface="Times New Roman" panose="02020603050405020304" pitchFamily="18" charset="0"/>
              </a:rPr>
              <a:t>  Set values :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Number of Threads (users): 10</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Ramp-Up Period (seconds): 5</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Loop Count: 5</a:t>
            </a:r>
          </a:p>
          <a:p>
            <a:r>
              <a:rPr lang="en-US" dirty="0">
                <a:latin typeface="Times New Roman" panose="02020603050405020304" pitchFamily="18" charset="0"/>
                <a:cs typeface="Times New Roman" panose="02020603050405020304" pitchFamily="18" charset="0"/>
              </a:rPr>
              <a:t>This means: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10 users will be created over 5 seconds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will call the API 5 times.</a:t>
            </a:r>
          </a:p>
          <a:p>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27817349"/>
      </p:ext>
    </p:extLst>
  </p:cSld>
  <p:clrMapOvr>
    <a:masterClrMapping/>
  </p:clrMapOvr>
  <mc:AlternateContent xmlns:mc="http://schemas.openxmlformats.org/markup-compatibility/2006" xmlns:p14="http://schemas.microsoft.com/office/powerpoint/2010/main">
    <mc:Choice Requires="p14">
      <p:transition spd="slow" p14:dur="2000" advTm="147230"/>
    </mc:Choice>
    <mc:Fallback xmlns="">
      <p:transition spd="slow" advTm="14723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93D2-21DB-278B-6E67-5ADA859E1EBD}"/>
              </a:ext>
            </a:extLst>
          </p:cNvPr>
          <p:cNvSpPr>
            <a:spLocks noGrp="1"/>
          </p:cNvSpPr>
          <p:nvPr>
            <p:ph type="title"/>
          </p:nvPr>
        </p:nvSpPr>
        <p:spPr/>
        <p:txBody>
          <a:bodyPr>
            <a:norm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Steps to Create a Basic JMeter Test for a React API</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B76B2F-5582-2AA9-6F24-8A0AF995EBA4}"/>
              </a:ext>
            </a:extLst>
          </p:cNvPr>
          <p:cNvSpPr>
            <a:spLocks noGrp="1"/>
          </p:cNvSpPr>
          <p:nvPr>
            <p:ph sz="half" idx="1"/>
          </p:nvPr>
        </p:nvSpPr>
        <p:spPr/>
        <p:txBody>
          <a:bodyPr>
            <a:noAutofit/>
          </a:bodyPr>
          <a:lstStyle/>
          <a:p>
            <a:r>
              <a:rPr lang="en-US" sz="1800" b="1" dirty="0">
                <a:latin typeface="Times New Roman" panose="02020603050405020304" pitchFamily="18" charset="0"/>
                <a:cs typeface="Times New Roman" panose="02020603050405020304" pitchFamily="18" charset="0"/>
              </a:rPr>
              <a:t> </a:t>
            </a:r>
            <a:r>
              <a:rPr lang="en-US" sz="1800" b="1" u="sng" dirty="0">
                <a:latin typeface="Times New Roman" panose="02020603050405020304" pitchFamily="18" charset="0"/>
                <a:cs typeface="Times New Roman" panose="02020603050405020304" pitchFamily="18" charset="0"/>
              </a:rPr>
              <a:t>Step 4:</a:t>
            </a:r>
            <a:r>
              <a:rPr lang="en-US" sz="1800" b="1" dirty="0">
                <a:latin typeface="Times New Roman" panose="02020603050405020304" pitchFamily="18" charset="0"/>
                <a:cs typeface="Times New Roman" panose="02020603050405020304" pitchFamily="18" charset="0"/>
              </a:rPr>
              <a:t> Add HTTP Request Defaults</a:t>
            </a:r>
          </a:p>
          <a:p>
            <a:r>
              <a:rPr lang="en-US" sz="1800" dirty="0">
                <a:latin typeface="Times New Roman" panose="02020603050405020304" pitchFamily="18" charset="0"/>
                <a:cs typeface="Times New Roman" panose="02020603050405020304" pitchFamily="18" charset="0"/>
              </a:rPr>
              <a:t>To avoid retyping the base URL.</a:t>
            </a:r>
          </a:p>
          <a:p>
            <a:r>
              <a:rPr lang="en-US" sz="1800" dirty="0">
                <a:solidFill>
                  <a:schemeClr val="accent1">
                    <a:lumMod val="75000"/>
                  </a:schemeClr>
                </a:solidFill>
                <a:latin typeface="Times New Roman" panose="02020603050405020304" pitchFamily="18" charset="0"/>
                <a:cs typeface="Times New Roman" panose="02020603050405020304" pitchFamily="18" charset="0"/>
              </a:rPr>
              <a:t>Add:</a:t>
            </a:r>
          </a:p>
          <a:p>
            <a:r>
              <a:rPr lang="en-US" sz="1800" dirty="0">
                <a:highlight>
                  <a:srgbClr val="C0C0C0"/>
                </a:highlight>
                <a:latin typeface="Times New Roman" panose="02020603050405020304" pitchFamily="18" charset="0"/>
                <a:cs typeface="Times New Roman" panose="02020603050405020304" pitchFamily="18" charset="0"/>
              </a:rPr>
              <a:t>Right-click Thread Group -&gt; Add -&gt; Config Element -&gt; HTTP Request Defaults</a:t>
            </a:r>
          </a:p>
          <a:p>
            <a:r>
              <a:rPr lang="en-US" sz="1800" dirty="0">
                <a:latin typeface="Times New Roman" panose="02020603050405020304" pitchFamily="18" charset="0"/>
                <a:cs typeface="Times New Roman" panose="02020603050405020304" pitchFamily="18" charset="0"/>
              </a:rPr>
              <a:t>Protocol: https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Server Name or IP: api.myreactapp.com</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p>
        </p:txBody>
      </p:sp>
      <p:sp>
        <p:nvSpPr>
          <p:cNvPr id="4" name="Content Placeholder 3">
            <a:extLst>
              <a:ext uri="{FF2B5EF4-FFF2-40B4-BE49-F238E27FC236}">
                <a16:creationId xmlns:a16="http://schemas.microsoft.com/office/drawing/2014/main" id="{00BC9F16-5497-02F7-D80A-85F01D784CFD}"/>
              </a:ext>
            </a:extLst>
          </p:cNvPr>
          <p:cNvSpPr>
            <a:spLocks noGrp="1"/>
          </p:cNvSpPr>
          <p:nvPr>
            <p:ph sz="half" idx="2"/>
          </p:nvPr>
        </p:nvSpPr>
        <p:spPr>
          <a:xfrm>
            <a:off x="6325386" y="1845734"/>
            <a:ext cx="4830294" cy="4272261"/>
          </a:xfrm>
        </p:spPr>
        <p:txBody>
          <a:bodyPr>
            <a:normAutofit fontScale="55000" lnSpcReduction="20000"/>
          </a:bodyPr>
          <a:lstStyle/>
          <a:p>
            <a:r>
              <a:rPr lang="en-US" sz="1600" dirty="0">
                <a:latin typeface="Times New Roman" panose="02020603050405020304" pitchFamily="18" charset="0"/>
                <a:cs typeface="Times New Roman" panose="02020603050405020304" pitchFamily="18" charset="0"/>
              </a:rPr>
              <a:t> </a:t>
            </a:r>
            <a:r>
              <a:rPr lang="en-US" sz="2900" b="1" u="sng" dirty="0">
                <a:latin typeface="Times New Roman" panose="02020603050405020304" pitchFamily="18" charset="0"/>
                <a:cs typeface="Times New Roman" panose="02020603050405020304" pitchFamily="18" charset="0"/>
              </a:rPr>
              <a:t>Step 5: </a:t>
            </a:r>
            <a:r>
              <a:rPr lang="en-US" sz="2900" b="1" dirty="0">
                <a:latin typeface="Times New Roman" panose="02020603050405020304" pitchFamily="18" charset="0"/>
                <a:cs typeface="Times New Roman" panose="02020603050405020304" pitchFamily="18" charset="0"/>
              </a:rPr>
              <a:t>Add HTTP Request Sampler</a:t>
            </a:r>
          </a:p>
          <a:p>
            <a:r>
              <a:rPr lang="en-US" sz="2900" dirty="0">
                <a:latin typeface="Times New Roman" panose="02020603050405020304" pitchFamily="18" charset="0"/>
                <a:cs typeface="Times New Roman" panose="02020603050405020304" pitchFamily="18" charset="0"/>
              </a:rPr>
              <a:t>To define what API endpoint to hit.</a:t>
            </a:r>
          </a:p>
          <a:p>
            <a:r>
              <a:rPr lang="en-US" sz="2900" dirty="0">
                <a:highlight>
                  <a:srgbClr val="C0C0C0"/>
                </a:highlight>
                <a:latin typeface="Times New Roman" panose="02020603050405020304" pitchFamily="18" charset="0"/>
                <a:cs typeface="Times New Roman" panose="02020603050405020304" pitchFamily="18" charset="0"/>
              </a:rPr>
              <a:t>Right-click Thread Group -&gt; Add -&gt; Sampler -&gt; HTTP Request</a:t>
            </a:r>
          </a:p>
          <a:p>
            <a:r>
              <a:rPr lang="en-US" sz="2900" dirty="0">
                <a:solidFill>
                  <a:schemeClr val="accent1">
                    <a:lumMod val="75000"/>
                  </a:schemeClr>
                </a:solidFill>
                <a:latin typeface="Times New Roman" panose="02020603050405020304" pitchFamily="18" charset="0"/>
                <a:cs typeface="Times New Roman" panose="02020603050405020304" pitchFamily="18" charset="0"/>
              </a:rPr>
              <a:t>Configure:</a:t>
            </a:r>
          </a:p>
          <a:p>
            <a:pPr>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Name: Get Products</a:t>
            </a:r>
          </a:p>
          <a:p>
            <a:pPr>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Method: GET</a:t>
            </a:r>
          </a:p>
          <a:p>
            <a:pPr>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Path: /products</a:t>
            </a:r>
          </a:p>
          <a:p>
            <a:pPr marL="0" indent="0">
              <a:buNone/>
            </a:pPr>
            <a:r>
              <a:rPr lang="en-US" sz="2900" dirty="0">
                <a:latin typeface="Times New Roman" panose="02020603050405020304" pitchFamily="18" charset="0"/>
                <a:cs typeface="Times New Roman" panose="02020603050405020304" pitchFamily="18" charset="0"/>
              </a:rPr>
              <a:t>  If testing POST API:</a:t>
            </a:r>
          </a:p>
          <a:p>
            <a:pPr>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Method: POST</a:t>
            </a:r>
          </a:p>
          <a:p>
            <a:pPr>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Path: /login</a:t>
            </a:r>
          </a:p>
          <a:p>
            <a:r>
              <a:rPr lang="en-US" sz="2900" dirty="0">
                <a:solidFill>
                  <a:srgbClr val="92D050"/>
                </a:solidFill>
                <a:latin typeface="Times New Roman" panose="02020603050405020304" pitchFamily="18" charset="0"/>
                <a:cs typeface="Times New Roman" panose="02020603050405020304" pitchFamily="18" charset="0"/>
              </a:rPr>
              <a:t>Body Data</a:t>
            </a:r>
            <a:r>
              <a:rPr lang="en-US" sz="2900" dirty="0">
                <a:solidFill>
                  <a:srgbClr val="FF0000"/>
                </a:solidFill>
                <a:latin typeface="Times New Roman" panose="02020603050405020304" pitchFamily="18" charset="0"/>
                <a:cs typeface="Times New Roman" panose="02020603050405020304" pitchFamily="18" charset="0"/>
              </a:rPr>
              <a:t>:{  "email": "test@example.com",  "password": "123456“}</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062220"/>
      </p:ext>
    </p:extLst>
  </p:cSld>
  <p:clrMapOvr>
    <a:masterClrMapping/>
  </p:clrMapOvr>
  <mc:AlternateContent xmlns:mc="http://schemas.openxmlformats.org/markup-compatibility/2006" xmlns:p14="http://schemas.microsoft.com/office/powerpoint/2010/main">
    <mc:Choice Requires="p14">
      <p:transition spd="slow" p14:dur="2000" advTm="207809"/>
    </mc:Choice>
    <mc:Fallback xmlns="">
      <p:transition spd="slow" advTm="20780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FB16-125B-EF33-6354-28F6D8DF14FE}"/>
              </a:ext>
            </a:extLst>
          </p:cNvPr>
          <p:cNvSpPr>
            <a:spLocks noGrp="1"/>
          </p:cNvSpPr>
          <p:nvPr>
            <p:ph type="title"/>
          </p:nvPr>
        </p:nvSpPr>
        <p:spPr/>
        <p:txBody>
          <a:bodyPr>
            <a:norm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Steps to Create a Basic JMeter Test for a React API</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5D397D-D42F-3223-AF02-90D11B45128E}"/>
              </a:ext>
            </a:extLst>
          </p:cNvPr>
          <p:cNvSpPr>
            <a:spLocks noGrp="1"/>
          </p:cNvSpPr>
          <p:nvPr>
            <p:ph sz="half" idx="1"/>
          </p:nvPr>
        </p:nvSpPr>
        <p:spPr>
          <a:xfrm>
            <a:off x="1097279" y="1845734"/>
            <a:ext cx="4803900" cy="4023360"/>
          </a:xfrm>
        </p:spPr>
        <p:txBody>
          <a:bodyPr>
            <a:normAutofit/>
          </a:bodyPr>
          <a:lstStyle/>
          <a:p>
            <a:r>
              <a:rPr lang="en-US" u="sng" dirty="0">
                <a:latin typeface="Times New Roman" panose="02020603050405020304" pitchFamily="18" charset="0"/>
                <a:cs typeface="Times New Roman" panose="02020603050405020304" pitchFamily="18" charset="0"/>
              </a:rPr>
              <a:t> </a:t>
            </a:r>
            <a:r>
              <a:rPr lang="en-US" sz="1800" b="1" u="sng" dirty="0">
                <a:latin typeface="Times New Roman" panose="02020603050405020304" pitchFamily="18" charset="0"/>
                <a:cs typeface="Times New Roman" panose="02020603050405020304" pitchFamily="18" charset="0"/>
              </a:rPr>
              <a:t>Step 6: </a:t>
            </a:r>
            <a:r>
              <a:rPr lang="en-US" sz="1800" b="1" dirty="0">
                <a:latin typeface="Times New Roman" panose="02020603050405020304" pitchFamily="18" charset="0"/>
                <a:cs typeface="Times New Roman" panose="02020603050405020304" pitchFamily="18" charset="0"/>
              </a:rPr>
              <a:t>Add HTTP Header Manager</a:t>
            </a:r>
          </a:p>
          <a:p>
            <a:r>
              <a:rPr lang="en-US" dirty="0">
                <a:latin typeface="Times New Roman" panose="02020603050405020304" pitchFamily="18" charset="0"/>
                <a:cs typeface="Times New Roman" panose="02020603050405020304" pitchFamily="18" charset="0"/>
              </a:rPr>
              <a:t>To set headers like Content-Type or Authorization.</a:t>
            </a:r>
          </a:p>
          <a:p>
            <a:r>
              <a:rPr lang="en-US" dirty="0">
                <a:highlight>
                  <a:srgbClr val="C0C0C0"/>
                </a:highlight>
                <a:latin typeface="Times New Roman" panose="02020603050405020304" pitchFamily="18" charset="0"/>
                <a:cs typeface="Times New Roman" panose="02020603050405020304" pitchFamily="18" charset="0"/>
              </a:rPr>
              <a:t>Right-click HTTP Request -&gt; Add -&gt; Config Element -&gt; HTTP Header Manager</a:t>
            </a:r>
          </a:p>
          <a:p>
            <a:r>
              <a:rPr lang="en-US" dirty="0">
                <a:solidFill>
                  <a:schemeClr val="accent1">
                    <a:lumMod val="75000"/>
                  </a:schemeClr>
                </a:solidFill>
                <a:latin typeface="Times New Roman" panose="02020603050405020304" pitchFamily="18" charset="0"/>
                <a:cs typeface="Times New Roman" panose="02020603050405020304" pitchFamily="18" charset="0"/>
              </a:rPr>
              <a:t>Add:</a:t>
            </a:r>
          </a:p>
          <a:p>
            <a:r>
              <a:rPr lang="en-US" b="1" dirty="0">
                <a:latin typeface="Times New Roman" panose="02020603050405020304" pitchFamily="18" charset="0"/>
                <a:cs typeface="Times New Roman" panose="02020603050405020304" pitchFamily="18" charset="0"/>
              </a:rPr>
              <a:t>Name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Value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Content-Type	 application/json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Authorization	 Bearer your_token_here</a:t>
            </a:r>
          </a:p>
        </p:txBody>
      </p:sp>
      <p:sp>
        <p:nvSpPr>
          <p:cNvPr id="4" name="Content Placeholder 3">
            <a:extLst>
              <a:ext uri="{FF2B5EF4-FFF2-40B4-BE49-F238E27FC236}">
                <a16:creationId xmlns:a16="http://schemas.microsoft.com/office/drawing/2014/main" id="{20EA7FAF-F6C6-CCE9-FBF2-568A854252F1}"/>
              </a:ext>
            </a:extLst>
          </p:cNvPr>
          <p:cNvSpPr>
            <a:spLocks noGrp="1"/>
          </p:cNvSpPr>
          <p:nvPr>
            <p:ph sz="half" idx="2"/>
          </p:nvPr>
        </p:nvSpPr>
        <p:spPr/>
        <p:txBody>
          <a:bodyPr>
            <a:normAutofit/>
          </a:bodyPr>
          <a:lstStyle/>
          <a:p>
            <a:r>
              <a:rPr lang="en-US" sz="1800" b="1" u="sng" dirty="0">
                <a:latin typeface="Times New Roman" panose="02020603050405020304" pitchFamily="18" charset="0"/>
                <a:cs typeface="Times New Roman" panose="02020603050405020304" pitchFamily="18" charset="0"/>
              </a:rPr>
              <a:t>Step 7</a:t>
            </a:r>
            <a:r>
              <a:rPr lang="en-US" sz="1800" b="1" dirty="0">
                <a:latin typeface="Times New Roman" panose="02020603050405020304" pitchFamily="18" charset="0"/>
                <a:cs typeface="Times New Roman" panose="02020603050405020304" pitchFamily="18" charset="0"/>
              </a:rPr>
              <a:t>: Add Listeners (Reports)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view performance results.</a:t>
            </a:r>
          </a:p>
          <a:p>
            <a:pPr>
              <a:buFont typeface="Arial" panose="020B0604020202020204" pitchFamily="34" charset="0"/>
              <a:buChar char="•"/>
            </a:pPr>
            <a:r>
              <a:rPr lang="en-US" dirty="0">
                <a:highlight>
                  <a:srgbClr val="C0C0C0"/>
                </a:highlight>
                <a:latin typeface="Times New Roman" panose="02020603050405020304" pitchFamily="18" charset="0"/>
                <a:cs typeface="Times New Roman" panose="02020603050405020304" pitchFamily="18" charset="0"/>
              </a:rPr>
              <a:t>Right-click Thread Group -&gt; Add -&gt; Listener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View Results Tree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Summary Report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Aggregate Report</a:t>
            </a:r>
          </a:p>
          <a:p>
            <a:r>
              <a:rPr lang="en-US" dirty="0">
                <a:latin typeface="Times New Roman" panose="02020603050405020304" pitchFamily="18" charset="0"/>
                <a:cs typeface="Times New Roman" panose="02020603050405020304" pitchFamily="18" charset="0"/>
              </a:rPr>
              <a:t>These show – Response time, Throughput, Success/failure rate, Error %.</a:t>
            </a:r>
          </a:p>
        </p:txBody>
      </p:sp>
    </p:spTree>
    <p:extLst>
      <p:ext uri="{BB962C8B-B14F-4D97-AF65-F5344CB8AC3E}">
        <p14:creationId xmlns:p14="http://schemas.microsoft.com/office/powerpoint/2010/main" val="3095665563"/>
      </p:ext>
    </p:extLst>
  </p:cSld>
  <p:clrMapOvr>
    <a:masterClrMapping/>
  </p:clrMapOvr>
  <mc:AlternateContent xmlns:mc="http://schemas.openxmlformats.org/markup-compatibility/2006" xmlns:p14="http://schemas.microsoft.com/office/powerpoint/2010/main">
    <mc:Choice Requires="p14">
      <p:transition spd="slow" p14:dur="2000" advTm="230993"/>
    </mc:Choice>
    <mc:Fallback xmlns="">
      <p:transition spd="slow" advTm="23099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2255-F529-84B9-21E8-955643F9F121}"/>
              </a:ext>
            </a:extLst>
          </p:cNvPr>
          <p:cNvSpPr>
            <a:spLocks noGrp="1"/>
          </p:cNvSpPr>
          <p:nvPr>
            <p:ph type="title"/>
          </p:nvPr>
        </p:nvSpPr>
        <p:spPr/>
        <p:txBody>
          <a:bodyPr>
            <a:norm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Steps to Create a Basic JMeter Test for a React API</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9C5971-0556-B99E-3CBB-50EF54B9DA19}"/>
              </a:ext>
            </a:extLst>
          </p:cNvPr>
          <p:cNvSpPr>
            <a:spLocks noGrp="1"/>
          </p:cNvSpPr>
          <p:nvPr>
            <p:ph idx="1"/>
          </p:nvPr>
        </p:nvSpPr>
        <p:spPr>
          <a:xfrm>
            <a:off x="1097280" y="1845733"/>
            <a:ext cx="10058400" cy="4196847"/>
          </a:xfrm>
        </p:spPr>
        <p:txBody>
          <a:bodyPr/>
          <a:lstStyle/>
          <a:p>
            <a:r>
              <a:rPr lang="en-US" sz="1800" b="1" u="sng" dirty="0">
                <a:latin typeface="Times New Roman" panose="02020603050405020304" pitchFamily="18" charset="0"/>
                <a:cs typeface="Times New Roman" panose="02020603050405020304" pitchFamily="18" charset="0"/>
              </a:rPr>
              <a:t>Step 8</a:t>
            </a:r>
            <a:r>
              <a:rPr lang="en-US" sz="1800" b="1" dirty="0">
                <a:latin typeface="Times New Roman" panose="02020603050405020304" pitchFamily="18" charset="0"/>
                <a:cs typeface="Times New Roman" panose="02020603050405020304" pitchFamily="18" charset="0"/>
              </a:rPr>
              <a:t>: Run the Test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Click the green </a:t>
            </a:r>
            <a:r>
              <a:rPr lang="en-US" dirty="0">
                <a:solidFill>
                  <a:srgbClr val="00B050"/>
                </a:solidFill>
                <a:latin typeface="Times New Roman" panose="02020603050405020304" pitchFamily="18" charset="0"/>
                <a:cs typeface="Times New Roman" panose="02020603050405020304" pitchFamily="18" charset="0"/>
              </a:rPr>
              <a:t>Start </a:t>
            </a:r>
            <a:r>
              <a:rPr lang="en-US" dirty="0">
                <a:latin typeface="Times New Roman" panose="02020603050405020304" pitchFamily="18" charset="0"/>
                <a:cs typeface="Times New Roman" panose="02020603050405020304" pitchFamily="18" charset="0"/>
              </a:rPr>
              <a:t>button on the toolbar.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Observe results in Summary Report</a:t>
            </a:r>
          </a:p>
          <a:p>
            <a:r>
              <a:rPr lang="en-US" sz="1800" b="1" u="sng" dirty="0">
                <a:latin typeface="Times New Roman" panose="02020603050405020304" pitchFamily="18" charset="0"/>
                <a:cs typeface="Times New Roman" panose="02020603050405020304" pitchFamily="18" charset="0"/>
              </a:rPr>
              <a:t>Step 9:</a:t>
            </a:r>
            <a:r>
              <a:rPr lang="en-US" sz="1800" b="1" dirty="0">
                <a:latin typeface="Times New Roman" panose="02020603050405020304" pitchFamily="18" charset="0"/>
                <a:cs typeface="Times New Roman" panose="02020603050405020304" pitchFamily="18" charset="0"/>
              </a:rPr>
              <a:t> Analyze Results</a:t>
            </a:r>
          </a:p>
          <a:p>
            <a:r>
              <a:rPr lang="en-US" sz="1800" dirty="0">
                <a:latin typeface="Times New Roman" panose="02020603050405020304" pitchFamily="18" charset="0"/>
                <a:cs typeface="Times New Roman" panose="02020603050405020304" pitchFamily="18" charset="0"/>
              </a:rPr>
              <a:t> Metric</a:t>
            </a:r>
            <a:r>
              <a:rPr lang="en-US" sz="1800"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Meaning</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Average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Average response time (ms)</a:t>
            </a:r>
          </a:p>
          <a:p>
            <a:r>
              <a:rPr lang="en-US" dirty="0">
                <a:latin typeface="Times New Roman" panose="02020603050405020304" pitchFamily="18" charset="0"/>
                <a:cs typeface="Times New Roman" panose="02020603050405020304" pitchFamily="18" charset="0"/>
              </a:rPr>
              <a:t> Min / Max	                          Fastest and slowest</a:t>
            </a:r>
          </a:p>
          <a:p>
            <a:r>
              <a:rPr lang="en-US" dirty="0">
                <a:latin typeface="Times New Roman" panose="02020603050405020304" pitchFamily="18" charset="0"/>
                <a:cs typeface="Times New Roman" panose="02020603050405020304" pitchFamily="18" charset="0"/>
              </a:rPr>
              <a:t> Responses throughput                 Requests handled </a:t>
            </a:r>
          </a:p>
          <a:p>
            <a:r>
              <a:rPr lang="en-US" dirty="0">
                <a:latin typeface="Times New Roman" panose="02020603050405020304" pitchFamily="18" charset="0"/>
                <a:cs typeface="Times New Roman" panose="02020603050405020304" pitchFamily="18" charset="0"/>
              </a:rPr>
              <a:t> Per second Error %                     Percentage of failed requests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797920"/>
      </p:ext>
    </p:extLst>
  </p:cSld>
  <p:clrMapOvr>
    <a:masterClrMapping/>
  </p:clrMapOvr>
  <mc:AlternateContent xmlns:mc="http://schemas.openxmlformats.org/markup-compatibility/2006" xmlns:p14="http://schemas.microsoft.com/office/powerpoint/2010/main">
    <mc:Choice Requires="p14">
      <p:transition spd="slow" p14:dur="2000" advTm="175451"/>
    </mc:Choice>
    <mc:Fallback xmlns="">
      <p:transition spd="slow" advTm="17545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D5692-A32A-27A5-4825-98CAEA5C0CAE}"/>
              </a:ext>
            </a:extLst>
          </p:cNvPr>
          <p:cNvSpPr>
            <a:spLocks noGrp="1"/>
          </p:cNvSpPr>
          <p:nvPr>
            <p:ph type="ctrTitle"/>
          </p:nvPr>
        </p:nvSpPr>
        <p:spPr/>
        <p:txBody>
          <a:bodyPr>
            <a:normAutofit/>
          </a:bodyPr>
          <a:lstStyle/>
          <a:p>
            <a:r>
              <a:rPr lang="en-US" sz="6600" dirty="0">
                <a:latin typeface="Times New Roman" panose="02020603050405020304" pitchFamily="18" charset="0"/>
                <a:cs typeface="Times New Roman" panose="02020603050405020304" pitchFamily="18" charset="0"/>
              </a:rPr>
              <a:t>THANK YOU</a:t>
            </a:r>
          </a:p>
        </p:txBody>
      </p:sp>
      <p:sp>
        <p:nvSpPr>
          <p:cNvPr id="3" name="Subtitle 2">
            <a:extLst>
              <a:ext uri="{FF2B5EF4-FFF2-40B4-BE49-F238E27FC236}">
                <a16:creationId xmlns:a16="http://schemas.microsoft.com/office/drawing/2014/main" id="{373CDA75-9CB3-715C-B115-C33BEBCC10A9}"/>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PRESENTED BY:DRISHA J</a:t>
            </a:r>
          </a:p>
        </p:txBody>
      </p:sp>
    </p:spTree>
    <p:extLst>
      <p:ext uri="{BB962C8B-B14F-4D97-AF65-F5344CB8AC3E}">
        <p14:creationId xmlns:p14="http://schemas.microsoft.com/office/powerpoint/2010/main" val="3435414114"/>
      </p:ext>
    </p:extLst>
  </p:cSld>
  <p:clrMapOvr>
    <a:masterClrMapping/>
  </p:clrMapOvr>
  <mc:AlternateContent xmlns:mc="http://schemas.openxmlformats.org/markup-compatibility/2006" xmlns:p14="http://schemas.microsoft.com/office/powerpoint/2010/main">
    <mc:Choice Requires="p14">
      <p:transition spd="slow" p14:dur="2000" advTm="60155"/>
    </mc:Choice>
    <mc:Fallback xmlns="">
      <p:transition spd="slow" advTm="60155"/>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571</TotalTime>
  <Words>1264</Words>
  <Application>Microsoft Office PowerPoint</Application>
  <PresentationFormat>Widescreen</PresentationFormat>
  <Paragraphs>157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Retrospect</vt:lpstr>
      <vt:lpstr>QUALITY ANALYST</vt:lpstr>
      <vt:lpstr>Topic 1: Automated E2E Testing for React App using Playwright</vt:lpstr>
      <vt:lpstr>Steps to Set Up Automated E2E Testing in React using Playwright</vt:lpstr>
      <vt:lpstr> Steps to Set Up Automated E2E Testing in React using Playwright</vt:lpstr>
      <vt:lpstr>                                                              </vt:lpstr>
      <vt:lpstr>Steps to Set Up Automated E2E Testing in React using Playwright </vt:lpstr>
      <vt:lpstr>Topic 2: Prepare a basic JMETER Performance Test for a REST API</vt:lpstr>
      <vt:lpstr>Steps to Create a Basic JMeter Test for a React API</vt:lpstr>
      <vt:lpstr>Steps to Create a Basic JMeter Test for a React API</vt:lpstr>
      <vt:lpstr>Steps to Create a Basic JMeter Test for a React API</vt:lpstr>
      <vt:lpstr>Steps to Create a Basic JMeter Test for a React API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Pavithra Manikandan</dc:creator>
  <cp:lastModifiedBy>Pavithra Manikandan</cp:lastModifiedBy>
  <cp:revision>6</cp:revision>
  <dcterms:created xsi:type="dcterms:W3CDTF">2025-10-30T10:57:57Z</dcterms:created>
  <dcterms:modified xsi:type="dcterms:W3CDTF">2025-11-02T21:31:00Z</dcterms:modified>
</cp:coreProperties>
</file>